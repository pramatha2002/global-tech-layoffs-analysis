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9BB4C9"/>
                </a:solidFill>
                <a:latin typeface="Aptos"/>
              </a:defRPr>
            </a:pPr>
            <a:r>
              <a:t>POWER BI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2880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GLOBAL TECH</a:t>
            </a:r>
          </a:p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LAYOFFS</a:t>
            </a:r>
          </a:p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377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FCF6"/>
                </a:solidFill>
                <a:latin typeface="Aptos"/>
              </a:defRPr>
            </a:pPr>
            <a:r>
              <a:t>Data 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508760"/>
            <a:ext cx="7040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233D5B"/>
                </a:solidFill>
                <a:latin typeface="Aptos"/>
              </a:defRPr>
            </a:pPr>
            <a:r>
              <a:t>Understanding workforce reductions</a:t>
            </a:r>
          </a:p>
          <a:p>
            <a:pPr>
              <a:spcAft>
                <a:spcPts val="700"/>
              </a:spcAft>
              <a:defRPr sz="2400" b="1">
                <a:solidFill>
                  <a:srgbClr val="233D5B"/>
                </a:solidFill>
                <a:latin typeface="Aptos"/>
              </a:defRPr>
            </a:pPr>
            <a:r>
              <a:t>across companies, industries and countries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3154680"/>
            <a:ext cx="6217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3447"/>
                </a:solidFill>
                <a:latin typeface="Aptos"/>
              </a:defRPr>
            </a:pPr>
            <a:r>
              <a:t>Tools: Power BI  •  Data analysis  •  Interactive visualizations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525780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15F8C"/>
                </a:solidFill>
                <a:latin typeface="Aptos"/>
              </a:defRPr>
            </a:pPr>
            <a:r>
              <a:t>Presented by: Pramatha M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571500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Dataset: Global Tech Layoffs Analysis 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rPr sz="1400" b="1" dirty="0"/>
              <a:t>What the project explores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43447"/>
                </a:solidFill>
                <a:latin typeface="Aptos"/>
              </a:defRPr>
            </a:pPr>
            <a:r>
              <a:t>•  Analyze global technology layoff events across time.</a:t>
            </a:r>
          </a:p>
          <a:p>
            <a:pPr>
              <a:spcAft>
                <a:spcPts val="1300"/>
              </a:spcAft>
              <a:defRPr sz="1900">
                <a:solidFill>
                  <a:srgbClr val="243447"/>
                </a:solidFill>
                <a:latin typeface="Aptos"/>
              </a:defRPr>
            </a:pPr>
            <a:r>
              <a:t>•  Identify the companies and industries with the largest reported layoffs.</a:t>
            </a:r>
          </a:p>
          <a:p>
            <a:pPr>
              <a:spcAft>
                <a:spcPts val="1300"/>
              </a:spcAft>
              <a:defRPr sz="1900">
                <a:solidFill>
                  <a:srgbClr val="243447"/>
                </a:solidFill>
                <a:latin typeface="Aptos"/>
              </a:defRPr>
            </a:pPr>
            <a:r>
              <a:t>•  Compare layoffs by country and company funding stage.</a:t>
            </a:r>
          </a:p>
          <a:p>
            <a:pPr>
              <a:spcAft>
                <a:spcPts val="1300"/>
              </a:spcAft>
              <a:defRPr sz="1900">
                <a:solidFill>
                  <a:srgbClr val="243447"/>
                </a:solidFill>
                <a:latin typeface="Aptos"/>
              </a:defRPr>
            </a:pPr>
            <a:r>
              <a:t>•  Build an interactive, multi-page Power BI dashboard for exploration.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417320"/>
            <a:ext cx="434340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60920" y="178308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33D5B"/>
                </a:solidFill>
                <a:latin typeface="Aptos"/>
              </a:defRPr>
            </a:pPr>
            <a:r>
              <a:t>Key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42316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When were layoffs highest?</a:t>
            </a:r>
          </a:p>
          <a:p>
            <a:pPr>
              <a:spcAft>
                <a:spcPts val="13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Which companies and sectors were most affected?</a:t>
            </a:r>
          </a:p>
          <a:p>
            <a:pPr>
              <a:spcAft>
                <a:spcPts val="13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Which countries reported the most layoffs?</a:t>
            </a:r>
          </a:p>
          <a:p>
            <a:pPr>
              <a:spcAft>
                <a:spcPts val="13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How do totals differ by funding stage?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77766F"/>
                </a:solidFill>
                <a:latin typeface="Aptos"/>
              </a:defRPr>
            </a:pPr>
            <a:r>
              <a:t>GLOBAL TECH LAYOFFS ANALYSIS  | 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Dataset &amp; Analysis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rPr sz="1400" b="1" dirty="0"/>
              <a:t>From event-level records to business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14300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30540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Primary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305409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315F8C"/>
                </a:solidFill>
                <a:latin typeface="Aptos"/>
              </a:defRPr>
            </a:pPr>
            <a:r>
              <a:t>Total layoffs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14300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35607"/>
            <a:ext cx="30540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1" y="1801368"/>
            <a:ext cx="3374135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315F8C"/>
                </a:solidFill>
                <a:latin typeface="Aptos"/>
              </a:defRPr>
            </a:pPr>
            <a:r>
              <a:rPr dirty="0"/>
              <a:t>Company • Industry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39" y="1325880"/>
            <a:ext cx="3566159" cy="114300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435607"/>
            <a:ext cx="30540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More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0" y="1801368"/>
            <a:ext cx="3401569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B78A45"/>
                </a:solidFill>
                <a:latin typeface="Aptos"/>
              </a:defRPr>
            </a:pPr>
            <a:r>
              <a:rPr dirty="0"/>
              <a:t>Country • Year •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Used layoff event records with company, country, industry, date/year and funding-stage fields.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Created measures for total layoffs, largest single layoff, average layoffs per event and distinct companies.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Compared totals across years, companies, industries, countries and funding stages.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Added slicers and page navigation to make the report interactive.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77766F"/>
                </a:solidFill>
                <a:latin typeface="Aptos"/>
              </a:defRPr>
            </a:pPr>
            <a:r>
              <a:t>GLOBAL TECH LAYOFFS ANALYSIS  |  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Key Dashboard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rPr sz="1400" b="1" dirty="0"/>
              <a:t>Figures shown in the final dashboard screenshots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28016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Total layoffs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01368"/>
            <a:ext cx="31455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315F8C"/>
                </a:solidFill>
                <a:latin typeface="Aptos"/>
              </a:defRPr>
            </a:pPr>
            <a:r>
              <a:t>751.7K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128016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435607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Companies affected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01368"/>
            <a:ext cx="31455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6489AC"/>
                </a:solidFill>
                <a:latin typeface="Aptos"/>
              </a:defRPr>
            </a:pPr>
            <a:r>
              <a:t>≈ 2K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128016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435607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Countries affected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01368"/>
            <a:ext cx="31455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B78A45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3474720" cy="128016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3081528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Industries affected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47288"/>
            <a:ext cx="31455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315F8C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971800"/>
            <a:ext cx="3474720" cy="128016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7992" y="3081528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Largest single layoff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447288"/>
            <a:ext cx="31455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6489AC"/>
                </a:solidFill>
                <a:latin typeface="Aptos"/>
              </a:defRPr>
            </a:pPr>
            <a:r>
              <a:t>≈ 22K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971800"/>
            <a:ext cx="3474720" cy="128016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3081528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t>Average layoffs/event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3447288"/>
            <a:ext cx="31455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B78A45"/>
                </a:solidFill>
                <a:latin typeface="Aptos"/>
              </a:defRPr>
            </a:pPr>
            <a:r>
              <a:t>281.54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77766F"/>
                </a:solidFill>
                <a:latin typeface="Aptos"/>
              </a:defRPr>
            </a:pPr>
            <a:r>
              <a:rPr dirty="0"/>
              <a:t>GLOBAL TECH LAYOFFS ANALYSIS  |  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55764144-D081-B9F8-E297-FB73B421D902}"/>
              </a:ext>
            </a:extLst>
          </p:cNvPr>
          <p:cNvSpPr/>
          <p:nvPr/>
        </p:nvSpPr>
        <p:spPr>
          <a:xfrm>
            <a:off x="5715000" y="1371600"/>
            <a:ext cx="539496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Time-Based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91053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rPr sz="1400" b="1" dirty="0"/>
              <a:t>How reported layoffs changed over the selected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212848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43447"/>
                </a:solidFill>
                <a:latin typeface="Aptos"/>
              </a:defRPr>
            </a:pPr>
            <a:r>
              <a:rPr dirty="0"/>
              <a:t>•  The annual chart peaks in 2023.</a:t>
            </a:r>
          </a:p>
          <a:p>
            <a:pPr>
              <a:spcAft>
                <a:spcPts val="1300"/>
              </a:spcAft>
              <a:defRPr sz="1800">
                <a:solidFill>
                  <a:srgbClr val="243447"/>
                </a:solidFill>
                <a:latin typeface="Aptos"/>
              </a:defRPr>
            </a:pPr>
            <a:r>
              <a:rPr dirty="0"/>
              <a:t>•  The monthly trend varies across the year rather than following a steady pattern.</a:t>
            </a:r>
          </a:p>
          <a:p>
            <a:pPr>
              <a:spcAft>
                <a:spcPts val="1300"/>
              </a:spcAft>
              <a:defRPr sz="1800">
                <a:solidFill>
                  <a:srgbClr val="243447"/>
                </a:solidFill>
                <a:latin typeface="Aptos"/>
              </a:defRPr>
            </a:pPr>
            <a:r>
              <a:rPr dirty="0"/>
              <a:t>•  Year and date filters help compare different time periods.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3056" y="1754825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33D5B"/>
                </a:solidFill>
                <a:latin typeface="Aptos"/>
              </a:defRPr>
            </a:pPr>
            <a:r>
              <a:rPr dirty="0"/>
              <a:t>Relative annual pattern (as shown in dashboard)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4372186"/>
            <a:ext cx="438912" cy="839893"/>
          </a:xfrm>
          <a:prstGeom prst="rect">
            <a:avLst/>
          </a:prstGeom>
          <a:solidFill>
            <a:srgbClr val="31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0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77766F"/>
                </a:solidFill>
                <a:latin typeface="Aptos"/>
              </a:defRPr>
            </a:pPr>
            <a:r>
              <a:t>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5002106"/>
            <a:ext cx="438912" cy="209973"/>
          </a:xfrm>
          <a:prstGeom prst="rect">
            <a:avLst/>
          </a:prstGeom>
          <a:solidFill>
            <a:srgbClr val="64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77766F"/>
                </a:solidFill>
                <a:latin typeface="Aptos"/>
              </a:defRPr>
            </a:pPr>
            <a:r>
              <a:t>2021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427306"/>
            <a:ext cx="438912" cy="1784773"/>
          </a:xfrm>
          <a:prstGeom prst="rect">
            <a:avLst/>
          </a:prstGeom>
          <a:solidFill>
            <a:srgbClr val="9BB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77766F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587413"/>
            <a:ext cx="438912" cy="2624666"/>
          </a:xfrm>
          <a:prstGeom prst="rect">
            <a:avLst/>
          </a:prstGeom>
          <a:solidFill>
            <a:srgbClr val="B7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77766F"/>
                </a:solidFill>
                <a:latin typeface="Aptos"/>
              </a:defRPr>
            </a:pPr>
            <a: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532293"/>
            <a:ext cx="438912" cy="1679786"/>
          </a:xfrm>
          <a:prstGeom prst="rect">
            <a:avLst/>
          </a:prstGeom>
          <a:solidFill>
            <a:srgbClr val="64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77766F"/>
                </a:solidFill>
                <a:latin typeface="Aptos"/>
              </a:defRPr>
            </a:pPr>
            <a:r>
              <a:t>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4477173"/>
            <a:ext cx="438912" cy="734906"/>
          </a:xfrm>
          <a:prstGeom prst="rect">
            <a:avLst/>
          </a:prstGeom>
          <a:solidFill>
            <a:srgbClr val="31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53218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77766F"/>
                </a:solidFill>
                <a:latin typeface="Aptos"/>
              </a:defRPr>
            </a:pPr>
            <a: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77766F"/>
                </a:solidFill>
                <a:latin typeface="Aptos"/>
              </a:defRPr>
            </a:pPr>
            <a:r>
              <a:t>GLOBAL TECH LAYOFFS ANALYSIS  |  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Company &amp; Industry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3431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rPr sz="1400" b="1" dirty="0"/>
              <a:t>Comparing the largest reported layoff totals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1107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rPr dirty="0"/>
              <a:t>•  Intel appears as the leading company in the Top 10 chart.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rPr dirty="0"/>
              <a:t>•  Microsoft, Amazon and Meta also appear among the leading companies.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rPr dirty="0"/>
              <a:t>•  Hardware, Other, Consumer and Retail are among the industries with the highest totals.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rPr dirty="0"/>
              <a:t>•  The industry-to-company matrix supports drill-down from an industry to individual companies.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371600"/>
            <a:ext cx="5394960" cy="448056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6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3D5B"/>
                </a:solidFill>
                <a:latin typeface="Aptos"/>
              </a:defRPr>
            </a:pPr>
            <a:r>
              <a:t>Top companies shown in the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3317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43447"/>
                </a:solidFill>
                <a:latin typeface="Aptos"/>
              </a:defRPr>
            </a:pPr>
            <a:r>
              <a:t>Intel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359151"/>
            <a:ext cx="3200400" cy="228600"/>
          </a:xfrm>
          <a:prstGeom prst="rect">
            <a:avLst/>
          </a:prstGeom>
          <a:solidFill>
            <a:srgbClr val="B7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295351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43447"/>
                </a:solidFill>
                <a:latin typeface="Aptos"/>
              </a:defRPr>
            </a:pPr>
            <a:r>
              <a:t>Microsoft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980944"/>
            <a:ext cx="2688336" cy="228600"/>
          </a:xfrm>
          <a:prstGeom prst="rect">
            <a:avLst/>
          </a:prstGeom>
          <a:solidFill>
            <a:srgbClr val="64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357530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43447"/>
                </a:solidFill>
                <a:latin typeface="Aptos"/>
              </a:defRPr>
            </a:pPr>
            <a:r>
              <a:t>Amazon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602736"/>
            <a:ext cx="2528316" cy="228600"/>
          </a:xfrm>
          <a:prstGeom prst="rect">
            <a:avLst/>
          </a:prstGeom>
          <a:solidFill>
            <a:srgbClr val="64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4197096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43447"/>
                </a:solidFill>
                <a:latin typeface="Aptos"/>
              </a:defRPr>
            </a:pPr>
            <a:r>
              <a:t>Meta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224528"/>
            <a:ext cx="2240279" cy="228600"/>
          </a:xfrm>
          <a:prstGeom prst="rect">
            <a:avLst/>
          </a:prstGeom>
          <a:solidFill>
            <a:srgbClr val="64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0" y="481888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43447"/>
                </a:solidFill>
                <a:latin typeface="Aptos"/>
              </a:defRPr>
            </a:pPr>
            <a:r>
              <a:t>Tesla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4846320"/>
            <a:ext cx="1184148" cy="228600"/>
          </a:xfrm>
          <a:prstGeom prst="rect">
            <a:avLst/>
          </a:prstGeom>
          <a:solidFill>
            <a:srgbClr val="6489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77766F"/>
                </a:solidFill>
                <a:latin typeface="Aptos"/>
              </a:defRPr>
            </a:pPr>
            <a:r>
              <a:t>GLOBAL TECH LAYOFFS ANALYSIS  | 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Geographic &amp; Funding-Stage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rPr dirty="0"/>
              <a:t>Where layoffs were reported and how totals vary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7652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rPr dirty="0"/>
              <a:t>•  The United States has the largest country total in the dashboard.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rPr dirty="0"/>
              <a:t>•  India and Germany follow among the top countries shown.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rPr dirty="0"/>
              <a:t>•  Post-IPO is the largest funding-stage category by total layoffs in the report.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rPr dirty="0"/>
              <a:t>•  Country and funding-stage slicers allow focused comparisons.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4937760" cy="4389120"/>
          </a:xfrm>
          <a:prstGeom prst="roundRect">
            <a:avLst/>
          </a:prstGeom>
          <a:solidFill>
            <a:srgbClr val="FFFCF6"/>
          </a:solidFill>
          <a:ln>
            <a:solidFill>
              <a:srgbClr val="D9CE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33D5B"/>
                </a:solidFill>
                <a:latin typeface="Aptos"/>
              </a:defRPr>
            </a:pPr>
            <a:r>
              <a:t>Top countries shown in the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774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3447"/>
                </a:solidFill>
                <a:latin typeface="Aptos"/>
              </a:defRPr>
            </a:pPr>
            <a:r>
              <a:t>United States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414016"/>
            <a:ext cx="2560320" cy="201168"/>
          </a:xfrm>
          <a:prstGeom prst="rect">
            <a:avLst/>
          </a:prstGeom>
          <a:solidFill>
            <a:srgbClr val="31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94436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3447"/>
                </a:solidFill>
                <a:latin typeface="Aptos"/>
              </a:defRPr>
            </a:pPr>
            <a:r>
              <a:t>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980944"/>
            <a:ext cx="291876" cy="201168"/>
          </a:xfrm>
          <a:prstGeom prst="rect">
            <a:avLst/>
          </a:prstGeom>
          <a:solidFill>
            <a:srgbClr val="9BB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511296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3447"/>
                </a:solidFill>
                <a:latin typeface="Aptos"/>
              </a:defRPr>
            </a:pPr>
            <a:r>
              <a:t>Germany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547872"/>
            <a:ext cx="151058" cy="201168"/>
          </a:xfrm>
          <a:prstGeom prst="rect">
            <a:avLst/>
          </a:prstGeom>
          <a:solidFill>
            <a:srgbClr val="9BB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4078224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3447"/>
                </a:solidFill>
                <a:latin typeface="Aptos"/>
              </a:defRPr>
            </a:pPr>
            <a:r>
              <a:t>United Kingdom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114800"/>
            <a:ext cx="104973" cy="201168"/>
          </a:xfrm>
          <a:prstGeom prst="rect">
            <a:avLst/>
          </a:prstGeom>
          <a:solidFill>
            <a:srgbClr val="9BB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64515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3447"/>
                </a:solidFill>
                <a:latin typeface="Aptos"/>
              </a:defRPr>
            </a:pPr>
            <a:r>
              <a:t>Netherlands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681728"/>
            <a:ext cx="94731" cy="201168"/>
          </a:xfrm>
          <a:prstGeom prst="rect">
            <a:avLst/>
          </a:prstGeom>
          <a:solidFill>
            <a:srgbClr val="9BB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77766F"/>
                </a:solidFill>
                <a:latin typeface="Aptos"/>
              </a:defRPr>
            </a:pPr>
            <a:r>
              <a:t>GLOBAL TECH LAYOFFS ANALYSIS  | 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Power BI Dashboard Pages</a:t>
            </a:r>
          </a:p>
        </p:txBody>
      </p:sp>
      <p:pic>
        <p:nvPicPr>
          <p:cNvPr id="5" name="Picture 4" descr="image(20261016-19464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2" y="917979"/>
            <a:ext cx="5182791" cy="2895075"/>
          </a:xfrm>
          <a:prstGeom prst="rect">
            <a:avLst/>
          </a:prstGeom>
        </p:spPr>
      </p:pic>
      <p:pic>
        <p:nvPicPr>
          <p:cNvPr id="7" name="Picture 6" descr="image(20261016-19472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485" y="905650"/>
            <a:ext cx="4984673" cy="2895075"/>
          </a:xfrm>
          <a:prstGeom prst="rect">
            <a:avLst/>
          </a:prstGeom>
        </p:spPr>
      </p:pic>
      <p:pic>
        <p:nvPicPr>
          <p:cNvPr id="9" name="Picture 8" descr="image(20261016-194805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13" y="3931913"/>
            <a:ext cx="5254848" cy="2926087"/>
          </a:xfrm>
          <a:prstGeom prst="rect">
            <a:avLst/>
          </a:prstGeom>
        </p:spPr>
      </p:pic>
      <p:pic>
        <p:nvPicPr>
          <p:cNvPr id="11" name="Picture 10" descr="image(20261016-194914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485" y="3985996"/>
            <a:ext cx="4984673" cy="279249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Limitations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7766F"/>
                </a:solidFill>
                <a:latin typeface="Aptos"/>
              </a:defRPr>
            </a:pPr>
            <a:r>
              <a:rPr sz="1400" b="1" dirty="0"/>
              <a:t>Important context when reading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Layoff counts describe reported events in the dataset and may not represent every company or event worldwide.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The dataset does not currently provide a confirmed workforce layoff percentage, so average layoffs per event is used as an alternative metric.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The funding amount field was not available in the Power BI fields, so a funds-raised-versus-layoffs scatter plot could not be supported.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Totals can differ slightly depending on data cleaning, filters, missing values and rounding.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77766F"/>
                </a:solidFill>
                <a:latin typeface="Aptos"/>
              </a:defRPr>
            </a:pPr>
            <a:r>
              <a:t>GLOBAL TECH LAYOFFS ANALYSIS  | 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3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233D5B"/>
                </a:solidFill>
                <a:latin typeface="Aptos"/>
              </a:defRPr>
            </a:pPr>
            <a:r>
              <a:t>The dashboard brings together time, company, industry, country and funding-stage views of technology layoffs.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2023 is the peak year in the displayed annual trend.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Intel leads the Top 10 company chart in the current report.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The United States and Post-IPO stage have the largest totals in their respective comparisons.</a:t>
            </a:r>
          </a:p>
          <a:p>
            <a:pPr>
              <a:spcAft>
                <a:spcPts val="1300"/>
              </a:spcAft>
              <a:defRPr sz="1700">
                <a:solidFill>
                  <a:srgbClr val="243447"/>
                </a:solidFill>
                <a:latin typeface="Aptos"/>
              </a:defRPr>
            </a:pPr>
            <a:r>
              <a:t>•  Interactive filters and drill-down help users explore the data from different perspectives.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71564"/>
            <a:ext cx="100584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B78A45"/>
                </a:solidFill>
                <a:latin typeface="Aptos"/>
              </a:defRPr>
            </a:pPr>
            <a:r>
              <a:rPr lang="en-US" sz="3200" dirty="0"/>
              <a:t>THANK YOU</a:t>
            </a:r>
            <a:endParaRPr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77766F"/>
                </a:solidFill>
                <a:latin typeface="Aptos"/>
              </a:defRPr>
            </a:pPr>
            <a:r>
              <a:t>GLOBAL TECH LAYOFFS ANALYSIS  | 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77766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699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Prajul MC</cp:lastModifiedBy>
  <cp:revision>2</cp:revision>
  <dcterms:created xsi:type="dcterms:W3CDTF">2013-01-27T09:14:16Z</dcterms:created>
  <dcterms:modified xsi:type="dcterms:W3CDTF">2026-10-17T20:39:16Z</dcterms:modified>
  <cp:category/>
</cp:coreProperties>
</file>